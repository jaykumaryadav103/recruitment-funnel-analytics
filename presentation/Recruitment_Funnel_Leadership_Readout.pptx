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d4d50eed744807" /><Relationship Type="http://schemas.openxmlformats.org/officeDocument/2006/relationships/extended-properties" Target="/docProps/app.xml" Id="Rae7348a281eb4691" /><Relationship Type="http://schemas.openxmlformats.org/officeDocument/2006/relationships/officeDocument" Target="/ppt/presentation.xml" Id="R77d8468c3ebc4e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6d0d9fac6f4289"/>
  </p:sldMasterIdLst>
  <p:notesMasterIdLst>
    <p:notesMasterId xmlns:r="http://schemas.openxmlformats.org/officeDocument/2006/relationships" r:id="R7755cd62ef1f453b"/>
  </p:notesMasterIdLst>
  <p:sldIdLst>
    <p:sldId xmlns:r="http://schemas.openxmlformats.org/officeDocument/2006/relationships" id="256" r:id="R65bb2cfe213b4455"/>
    <p:sldId xmlns:r="http://schemas.openxmlformats.org/officeDocument/2006/relationships" id="257" r:id="R3b500a1f97374404"/>
    <p:sldId xmlns:r="http://schemas.openxmlformats.org/officeDocument/2006/relationships" id="258" r:id="Rce9ce44776a64246"/>
    <p:sldId xmlns:r="http://schemas.openxmlformats.org/officeDocument/2006/relationships" id="259" r:id="R51f71c1464514a12"/>
    <p:sldId xmlns:r="http://schemas.openxmlformats.org/officeDocument/2006/relationships" id="260" r:id="R4c30cd211b0743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6d78f277f64056" /><Relationship Type="http://schemas.openxmlformats.org/officeDocument/2006/relationships/slideMaster" Target="/ppt/slideMasters/slideMaster1.xml" Id="Rcf6d0d9fac6f4289" /><Relationship Type="http://schemas.openxmlformats.org/officeDocument/2006/relationships/notesMaster" Target="/ppt/notesMasters/notesMaster1.xml" Id="R7755cd62ef1f453b" /><Relationship Type="http://schemas.openxmlformats.org/officeDocument/2006/relationships/presProps" Target="/ppt/presProps.xml" Id="R41e9e33361064e70" /><Relationship Type="http://schemas.openxmlformats.org/officeDocument/2006/relationships/tableStyles" Target="/ppt/tableStyles.xml" Id="Rf4021bff9b3f4758" /><Relationship Type="http://schemas.openxmlformats.org/officeDocument/2006/relationships/slide" Target="/ppt/slides/slide1.xml" Id="R65bb2cfe213b4455" /><Relationship Type="http://schemas.openxmlformats.org/officeDocument/2006/relationships/slide" Target="/ppt/slides/slide2.xml" Id="R3b500a1f97374404" /><Relationship Type="http://schemas.openxmlformats.org/officeDocument/2006/relationships/slide" Target="/ppt/slides/slide3.xml" Id="Rce9ce44776a64246" /><Relationship Type="http://schemas.openxmlformats.org/officeDocument/2006/relationships/slide" Target="/ppt/slides/slide4.xml" Id="R51f71c1464514a12" /><Relationship Type="http://schemas.openxmlformats.org/officeDocument/2006/relationships/slide" Target="/ppt/slides/slide5.xml" Id="R4c30cd211b0743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cfa7ccca414c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6801a383a74ca1" /><Relationship Type="http://schemas.openxmlformats.org/officeDocument/2006/relationships/notesMaster" Target="/ppt/notesMasters/notesMaster1.xml" Id="Ree30318c8c0349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0efbc6f1a41bc" /><Relationship Type="http://schemas.openxmlformats.org/officeDocument/2006/relationships/notesMaster" Target="/ppt/notesMasters/notesMaster1.xml" Id="R64db9dceb63d45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df375f0e8842b1" /><Relationship Type="http://schemas.openxmlformats.org/officeDocument/2006/relationships/notesMaster" Target="/ppt/notesMasters/notesMaster1.xml" Id="R7deb29d05d1345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aea9d8bff84b4a" /><Relationship Type="http://schemas.openxmlformats.org/officeDocument/2006/relationships/notesMaster" Target="/ppt/notesMasters/notesMaster1.xml" Id="R29082453ed0c4e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69e2ee96384ddc" /><Relationship Type="http://schemas.openxmlformats.org/officeDocument/2006/relationships/notesMaster" Target="/ppt/notesMasters/notesMaster1.xml" Id="R42b0891fd4a348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64ca85e544c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d3a74840634bdf" /><Relationship Type="http://schemas.openxmlformats.org/officeDocument/2006/relationships/slideLayout" Target="/ppt/slideLayouts/slideLayout1.xml" Id="Ra143c01830ef4f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43c01830ef4f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8856741c741bb" /><Relationship Type="http://schemas.openxmlformats.org/officeDocument/2006/relationships/notesSlide" Target="/ppt/notesSlides/notesSlide1.xml" Id="R301797ca61054c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525f63df14127" /><Relationship Type="http://schemas.openxmlformats.org/officeDocument/2006/relationships/chart" Target="/ppt/slides/charts/chart1.xml" Id="Rdc676408e40046ca" /><Relationship Type="http://schemas.openxmlformats.org/officeDocument/2006/relationships/notesSlide" Target="/ppt/notesSlides/notesSlide2.xml" Id="R50405fef972443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bd7e3399842d3" /><Relationship Type="http://schemas.openxmlformats.org/officeDocument/2006/relationships/chart" Target="/ppt/slides/charts/chart2.xml" Id="Rf74465092ee94357" /><Relationship Type="http://schemas.openxmlformats.org/officeDocument/2006/relationships/notesSlide" Target="/ppt/notesSlides/notesSlide3.xml" Id="Rb7dce7e1d54649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9375eb1114035" /><Relationship Type="http://schemas.openxmlformats.org/officeDocument/2006/relationships/chart" Target="/ppt/slides/charts/chart3.xml" Id="R618077d03c3e450a" /><Relationship Type="http://schemas.openxmlformats.org/officeDocument/2006/relationships/notesSlide" Target="/ppt/notesSlides/notesSlide4.xml" Id="Rce701e4448c54d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831c5bf8c45a0" /><Relationship Type="http://schemas.openxmlformats.org/officeDocument/2006/relationships/notesSlide" Target="/ppt/notesSlides/notesSlide5.xml" Id="Rf964f2c1f02b4f0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Candidates</c:v>
          </c:tx>
          <c:spPr>
            <a:solidFill xmlns:a="http://schemas.openxmlformats.org/drawingml/2006/main">
              <a:srgbClr val="2D7F83"/>
            </a:solidFill>
          </c:spPr>
          <c:cat>
            <c:strRef>
              <c:f>'Chart Data'!$A$2:$A$8</c:f>
              <c:strCache>
                <c:ptCount val="7"/>
                <c:pt idx="0">
                  <c:v>Applied</c:v>
                </c:pt>
                <c:pt idx="1">
                  <c:v>Screened</c:v>
                </c:pt>
                <c:pt idx="2">
                  <c:v>Recruiter interview</c:v>
                </c:pt>
                <c:pt idx="3">
                  <c:v>Hiring manager</c:v>
                </c:pt>
                <c:pt idx="4">
                  <c:v>Final interview</c:v>
                </c:pt>
                <c:pt idx="5">
                  <c:v>Offer</c:v>
                </c:pt>
                <c:pt idx="6">
                  <c:v>Joined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360</c:v>
                </c:pt>
                <c:pt idx="1">
                  <c:v>318</c:v>
                </c:pt>
                <c:pt idx="2">
                  <c:v>218</c:v>
                </c:pt>
                <c:pt idx="3">
                  <c:v>138</c:v>
                </c:pt>
                <c:pt idx="4">
                  <c:v>88</c:v>
                </c:pt>
                <c:pt idx="5">
                  <c:v>60</c:v>
                </c:pt>
                <c:pt idx="6">
                  <c:v>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Candidates not reaching next stage</c:v>
          </c:tx>
          <c:spPr>
            <a:solidFill xmlns:a="http://schemas.openxmlformats.org/drawingml/2006/main">
              <a:srgbClr val="C98B35"/>
            </a:solidFill>
          </c:spPr>
          <c:cat>
            <c:strRef>
              <c:f>'Chart Data'!$A$2:$A$7</c:f>
              <c:strCache>
                <c:ptCount val="6"/>
                <c:pt idx="0">
                  <c:v>Applied → Screened</c:v>
                </c:pt>
                <c:pt idx="1">
                  <c:v>Screened → Recruiter interview</c:v>
                </c:pt>
                <c:pt idx="2">
                  <c:v>Recruiter → Hiring manager</c:v>
                </c:pt>
                <c:pt idx="3">
                  <c:v>Hiring manager → Final</c:v>
                </c:pt>
                <c:pt idx="4">
                  <c:v>Final → Offer</c:v>
                </c:pt>
                <c:pt idx="5">
                  <c:v>Offer → Joined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42</c:v>
                </c:pt>
                <c:pt idx="1">
                  <c:v>100</c:v>
                </c:pt>
                <c:pt idx="2">
                  <c:v>80</c:v>
                </c:pt>
                <c:pt idx="3">
                  <c:v>50</c:v>
                </c:pt>
                <c:pt idx="4">
                  <c:v>28</c:v>
                </c:pt>
                <c:pt idx="5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Hire rate (%)</c:v>
          </c:tx>
          <c:spPr>
            <a:solidFill xmlns:a="http://schemas.openxmlformats.org/drawingml/2006/main">
              <a:srgbClr val="2D7F83"/>
            </a:solidFill>
          </c:spPr>
          <c:cat>
            <c:strRef>
              <c:f>'Chart Data'!$A$2:$A$6</c:f>
              <c:strCache>
                <c:ptCount val="5"/>
                <c:pt idx="0">
                  <c:v>Careers Page</c:v>
                </c:pt>
                <c:pt idx="1">
                  <c:v>Campus</c:v>
                </c:pt>
                <c:pt idx="2">
                  <c:v>LinkedIn</c:v>
                </c:pt>
                <c:pt idx="3">
                  <c:v>Employee Referral</c:v>
                </c:pt>
                <c:pt idx="4">
                  <c:v>Recruiter Agency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16.9</c:v>
                </c:pt>
                <c:pt idx="1">
                  <c:v>14.3</c:v>
                </c:pt>
                <c:pt idx="2">
                  <c:v>13.6</c:v>
                </c:pt>
                <c:pt idx="3">
                  <c:v>13</c:v>
                </c:pt>
                <c:pt idx="4">
                  <c:v>4.8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EFBF5-11C5-4F09-9176-6AD95404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Recruitment Funnel</a:t>
            </a:r>
          </a:p>
          <a:p xmlns:a="http://schemas.openxmlformats.org/drawingml/2006/main">
            <a:pPr>
              <a:defRPr sz="43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BE355-0BAC-4722-9EC7-B338CE67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63746"/>
                </a:solidFill>
                <a:latin typeface="Aptos"/>
                <a:ea typeface="Aptos"/>
                <a:cs typeface="Aptos"/>
              </a:rPr>
              <a:t>A hiring pipeline review for a fictional quantum computing and AI company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DEA8E-B485-4B0C-9C6D-B79CA375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7F8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D7F83"/>
                </a:solidFill>
                <a:latin typeface="Aptos"/>
                <a:ea typeface="Aptos"/>
                <a:cs typeface="Aptos"/>
              </a:rPr>
              <a:t>360 applications   |   48 joiners   |   33-day median time to join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3CE7C-6E81-4CAE-8CB3-B30FC465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Leadership readout  •  Application cohort Jan–Jun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D8AEB-C2FD-4046-85AB-E8778E4E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All candidate records and results are synthetic. This case study does not describe a real employer.</a:t>
            </a:r>
          </a:p>
        </p:txBody>
      </p:sp>
    </p:spTree>
    <p:extLst>
      <p:ext uri="{BB962C8B-B14F-4D97-AF65-F5344CB8AC3E}">
        <p14:creationId xmlns:p14="http://schemas.microsoft.com/office/powerpoint/2010/main" val="357358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1DC37-C3C0-4F2F-B86D-057178A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Most applications leave before the interview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5D47B-BA94-45A8-B398-E917103F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Stage reached, based on each candidate’s furthest completed stage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16402-DB01-4EEB-AFEE-643ED711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Synthetic portfolio case study | Jan–Jun 2026 applications | Snapshot 30 Sep 2026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42950" y="1657350"/>
          <a:ext xmlns:a="http://schemas.openxmlformats.org/drawingml/2006/main" cx="7048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676408e40046c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3E056-E8E4-4CDB-8C8A-3AF45FE7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29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360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02D75-2093-4A56-BC70-7CFB4A88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384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0C8F4-1BE4-4645-A3EF-C337CAF2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29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D7F83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2D7F83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33195-3F92-4C94-849C-F3C9D254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147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joined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A55BB-204D-48E4-988B-6CE0C622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910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13.3%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F5CE2-19D8-4DB4-829C-70A96FAA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62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application-to-join rate</a:t>
            </a:r>
          </a:p>
        </p:txBody>
      </p:sp>
    </p:spTree>
    <p:extLst>
      <p:ext uri="{BB962C8B-B14F-4D97-AF65-F5344CB8AC3E}">
        <p14:creationId xmlns:p14="http://schemas.microsoft.com/office/powerpoint/2010/main" val="20603862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E1BD8-C798-4993-882A-A72A48F0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biggest count loss occurs at the first interview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9BB9A-8D08-45C5-A0FC-C984A8F2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Use these gaps to guide a process review, not to infer why candidates left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E78A9-0C84-4150-B719-49304D87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Synthetic portfolio case study | Jan–Jun 2026 applications | Snapshot 30 Sep 2026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79070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4465092ee9435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AF04B-4FDC-4D46-AC8B-6A3D2282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52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51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1C21D-2ECD-4A78-BAE6-A1E0FDBF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63746"/>
                </a:solidFill>
                <a:latin typeface="Aptos"/>
                <a:ea typeface="Aptos"/>
                <a:cs typeface="Aptos"/>
              </a:rPr>
              <a:t>candidates between Screened and Recruiter Interview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75804-B5EE-4F0E-B543-BE305EF9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51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D7F83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D7F83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8117E-58B9-4E65-8D18-20C9BEC6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862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63746"/>
                </a:solidFill>
                <a:latin typeface="Aptos"/>
                <a:ea typeface="Aptos"/>
                <a:cs typeface="Aptos"/>
              </a:rPr>
              <a:t>candidates between Recruiter and Hiring Manager interviews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43DEF-ACE6-49A5-92DF-F3130425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530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F7D"/>
                </a:solidFill>
                <a:latin typeface="Aptos"/>
                <a:ea typeface="Aptos"/>
                <a:cs typeface="Aptos"/>
              </a:rPr>
              <a:t>Next check: stage timing, screen criteria and documented disposition reasons.</a:t>
            </a:r>
          </a:p>
        </p:txBody>
      </p:sp>
    </p:spTree>
    <p:extLst>
      <p:ext uri="{BB962C8B-B14F-4D97-AF65-F5344CB8AC3E}">
        <p14:creationId xmlns:p14="http://schemas.microsoft.com/office/powerpoint/2010/main" val="1565781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B3899-6035-437E-9687-F26EBECE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Channel results point to a question, not a budget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C261B-864D-42F5-87C1-3106AA76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Observed application-to-join rate by source; counts shown in the companion workbook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CB930-A1C7-4D76-A0FA-47F88B21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Synthetic portfolio case study | Jan–Jun 2026 applications | Snapshot 30 Sep 2026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14375" y="1714500"/>
          <a:ext xmlns:a="http://schemas.openxmlformats.org/drawingml/2006/main" cx="704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8077d03c3e450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8C1D1-818B-42D7-8ED9-513C1D1B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77 applicants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09200-6041-42ED-A05E-5F0D361E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Careers Page · 13 joiners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75EEE-87C7-4991-A91F-CDF25044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42 applicants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44D54-5766-4173-8E23-FBC99486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Recruiter Agency · 2 joiners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DC172-2EC8-4A9E-A798-6351BDC5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63746"/>
                </a:solidFill>
                <a:latin typeface="Aptos"/>
                <a:ea typeface="Aptos"/>
                <a:cs typeface="Aptos"/>
              </a:rPr>
              <a:t>Role mix and small samples are not controlled. Compare like roles and experience levels before changing channel effort.</a:t>
            </a:r>
          </a:p>
        </p:txBody>
      </p:sp>
    </p:spTree>
    <p:extLst>
      <p:ext uri="{BB962C8B-B14F-4D97-AF65-F5344CB8AC3E}">
        <p14:creationId xmlns:p14="http://schemas.microsoft.com/office/powerpoint/2010/main" val="1480596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A5F99-CA9F-4144-BB7E-9F059A76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short follow-up can turn this snapshot into an operating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804DC-6C07-43B4-A5C0-855E9102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Recommended questions for the HR and recruiting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1E37D-0BE0-4865-A52C-D75857B0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Synthetic portfolio case study | Jan–Jun 2026 applications | Snapshot 30 Sep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22B08-F490-4648-A587-B56738A7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D7F8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D7F8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494A7-2CD0-4EA2-9C75-D14F21D2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9545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746"/>
                </a:solidFill>
                <a:latin typeface="Aptos"/>
                <a:ea typeface="Aptos"/>
                <a:cs typeface="Aptos"/>
              </a:rPr>
              <a:t>Review the Screened-to-Recruiter handoff and time spent at each 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2B69A-DDA0-4911-8F87-03498CF7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D7F8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D7F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EE648-4A0C-4405-8F00-4CC7A81E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746"/>
                </a:solidFill>
                <a:latin typeface="Aptos"/>
                <a:ea typeface="Aptos"/>
                <a:cs typeface="Aptos"/>
              </a:rPr>
              <a:t>Capture a consistent reason whenever a candidate exits.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15A17-FE16-47BB-A3CA-EF07A40D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D7F8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D7F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77BA0-F0C3-48A6-9054-2DDAE17B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923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746"/>
                </a:solidFill>
                <a:latin typeface="Aptos"/>
                <a:ea typeface="Aptos"/>
                <a:cs typeface="Aptos"/>
              </a:rPr>
              <a:t>Compare sources within role and experience bands, then include cost and recruiter effort.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294C0-8179-4E2C-B6E5-8AAD6CE7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D7F8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D7F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9A824-F99E-432A-8636-FFC27A30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63746"/>
                </a:solidFill>
                <a:latin typeface="Aptos"/>
                <a:ea typeface="Aptos"/>
                <a:cs typeface="Aptos"/>
              </a:rPr>
              <a:t>Track accepted, declined and joined offers as separate ATS outcomes.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92B90-EE1C-4320-84E5-3894A02D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6F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F7D"/>
                </a:solidFill>
                <a:latin typeface="Aptos"/>
                <a:ea typeface="Aptos"/>
                <a:cs typeface="Aptos"/>
              </a:rPr>
              <a:t>Data note: 6 duplicates removed, 5 missing sources mapped to Unknown, and 2 invalid milestone dates cleared. Synthetic records only.</a:t>
            </a:r>
          </a:p>
        </p:txBody>
      </p:sp>
    </p:spTree>
    <p:extLst>
      <p:ext uri="{BB962C8B-B14F-4D97-AF65-F5344CB8AC3E}">
        <p14:creationId xmlns:p14="http://schemas.microsoft.com/office/powerpoint/2010/main" val="1704605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2026-10-11T08:19:05.8720000Z</dcterms:created>
  <dcterms:modified xsi:type="dcterms:W3CDTF">2026-10-11T08:19:05.8720000Z</dcterms:modified>
</coreProperties>
</file>